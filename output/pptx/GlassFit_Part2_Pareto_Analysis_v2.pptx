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3dea40d9994ac0" /><Relationship Type="http://schemas.openxmlformats.org/officeDocument/2006/relationships/extended-properties" Target="/docProps/app.xml" Id="Ree8fb5b5830047fb" /><Relationship Type="http://schemas.openxmlformats.org/officeDocument/2006/relationships/officeDocument" Target="/ppt/presentation.xml" Id="R87d4f2ac83b140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bde04b149e4e6e"/>
  </p:sldMasterIdLst>
  <p:notesMasterIdLst>
    <p:notesMasterId xmlns:r="http://schemas.openxmlformats.org/officeDocument/2006/relationships" r:id="R042d5e464c634555"/>
  </p:notesMasterIdLst>
  <p:sldIdLst>
    <p:sldId xmlns:r="http://schemas.openxmlformats.org/officeDocument/2006/relationships" id="256" r:id="Rd9815b20b92844da"/>
    <p:sldId xmlns:r="http://schemas.openxmlformats.org/officeDocument/2006/relationships" id="257" r:id="R013acbfde4864f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b5a3aaabff468f" /><Relationship Type="http://schemas.openxmlformats.org/officeDocument/2006/relationships/slideMaster" Target="/ppt/slideMasters/slideMaster1.xml" Id="R21bde04b149e4e6e" /><Relationship Type="http://schemas.openxmlformats.org/officeDocument/2006/relationships/notesMaster" Target="/ppt/notesMasters/notesMaster1.xml" Id="R042d5e464c634555" /><Relationship Type="http://schemas.openxmlformats.org/officeDocument/2006/relationships/presProps" Target="/ppt/presProps.xml" Id="Rbb40d0025d6844da" /><Relationship Type="http://schemas.openxmlformats.org/officeDocument/2006/relationships/tableStyles" Target="/ppt/tableStyles.xml" Id="R0a01b77b7ac145cc" /><Relationship Type="http://schemas.openxmlformats.org/officeDocument/2006/relationships/slide" Target="/ppt/slides/slide1.xml" Id="Rd9815b20b92844da" /><Relationship Type="http://schemas.openxmlformats.org/officeDocument/2006/relationships/slide" Target="/ppt/slides/slide2.xml" Id="R013acbfde4864f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1c6fadbddb42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59f9fd6fe54a5f" /><Relationship Type="http://schemas.openxmlformats.org/officeDocument/2006/relationships/notesMaster" Target="/ppt/notesMasters/notesMaster1.xml" Id="R7c890b1d02c64b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6d09ea93ec4728" /><Relationship Type="http://schemas.openxmlformats.org/officeDocument/2006/relationships/notesMaster" Target="/ppt/notesMasters/notesMaster1.xml" Id="R1f3b6b307ed544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Lab3_Group2.pdf, the attached Part 1 check sheet. The frequencies are the supplied Total column. Total issues = 64. Percent = frequency / 64 × 100; cumulative percent is computed from the ranked counts before display rounding.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Lab3_Group2.pdf, the attached Part 1 check sheet. Categories are sorted highest to lowest. Top three sum to 52 / 64 = 81.25%, displayed as 81.3%. Prioritization follows the requested Pareto rule: address the smallest ranked set that accounts for at least 80% of issues.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b7fbc969e4c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c990d449447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dd2ea0d854e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14bfa227c4a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eb15c59dc43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8dceddb5443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C5E899-73E5-4DBA-96F9-0DD17B572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17A5D47-C18E-4DEF-A0E2-8AF1796C5D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39848C-6CAF-4874-A71A-6FFD29D86B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2A7E4A-564F-468D-85B5-7096CF8189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55C788-02EC-4B71-BC4F-86F56314E6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027CA6-85EB-4CE8-AC63-3C446EB225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43FAFA-B724-46AD-9E74-6F967FCDA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44ADFD-03DF-4F31-AA2C-5C7B7C16DA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8FFB87-DA1C-498C-9814-EF9442C221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89DC61-143A-4605-A633-5196CA23ED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dba253922e4a37" /><Relationship Type="http://schemas.openxmlformats.org/officeDocument/2006/relationships/slideLayout" Target="/ppt/slideLayouts/slideLayout1.xml" Id="R9c1b7e2b90884f9c" /><Relationship Type="http://schemas.openxmlformats.org/officeDocument/2006/relationships/slideLayout" Target="/ppt/slideLayouts/slideLayout2.xml" Id="Ra4d8f10558214e8d" /><Relationship Type="http://schemas.openxmlformats.org/officeDocument/2006/relationships/slideLayout" Target="/ppt/slideLayouts/slideLayout3.xml" Id="R9bb1efe1cb584b92" /><Relationship Type="http://schemas.openxmlformats.org/officeDocument/2006/relationships/slideLayout" Target="/ppt/slideLayouts/slideLayout4.xml" Id="R9d9eb6a9e53b475f" /><Relationship Type="http://schemas.openxmlformats.org/officeDocument/2006/relationships/slideLayout" Target="/ppt/slideLayouts/slideLayout5.xml" Id="Re11336980593476a" /><Relationship Type="http://schemas.openxmlformats.org/officeDocument/2006/relationships/slideLayout" Target="/ppt/slideLayouts/slideLayout6.xml" Id="R9fce177932e240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1b7e2b90884f9c"/>
    <p:sldLayoutId xmlns:r="http://schemas.openxmlformats.org/officeDocument/2006/relationships" id="2147483650" r:id="Ra4d8f10558214e8d"/>
    <p:sldLayoutId xmlns:r="http://schemas.openxmlformats.org/officeDocument/2006/relationships" id="2147483651" r:id="R9bb1efe1cb584b92"/>
    <p:sldLayoutId xmlns:r="http://schemas.openxmlformats.org/officeDocument/2006/relationships" id="2147483652" r:id="R9d9eb6a9e53b475f"/>
    <p:sldLayoutId xmlns:r="http://schemas.openxmlformats.org/officeDocument/2006/relationships" id="2147483653" r:id="Re11336980593476a"/>
    <p:sldLayoutId xmlns:r="http://schemas.openxmlformats.org/officeDocument/2006/relationships" id="2147483654" r:id="R9fce177932e240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fccbc2021445e" /><Relationship Type="http://schemas.openxmlformats.org/officeDocument/2006/relationships/notesSlide" Target="/ppt/notesSlides/notesSlide1.xml" Id="R61371b47cc6845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f3913987664bad" /><Relationship Type="http://schemas.openxmlformats.org/officeDocument/2006/relationships/chart" Target="/ppt/slides/charts/chart1.xml" Id="R36addff2a5184d69" /><Relationship Type="http://schemas.openxmlformats.org/officeDocument/2006/relationships/notesSlide" Target="/ppt/notesSlides/notesSlide2.xml" Id="R1b8bc8492304457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Defect frequency</c:v>
          </c:tx>
          <c:spPr>
            <a:solidFill xmlns:a="http://schemas.openxmlformats.org/drawingml/2006/main">
              <a:srgbClr val="147D78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UI Defects</c:v>
                </c:pt>
                <c:pt idx="1">
                  <c:v>Mobile Responsiveness</c:v>
                </c:pt>
                <c:pt idx="2">
                  <c:v>Calculation Logic</c:v>
                </c:pt>
                <c:pt idx="3">
                  <c:v>Broken link</c:v>
                </c:pt>
                <c:pt idx="4">
                  <c:v>Broken button</c:v>
                </c:pt>
                <c:pt idx="5">
                  <c:v>Database error</c:v>
                </c:pt>
                <c:pt idx="6">
                  <c:v>Input validation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36</c:v>
                </c:pt>
                <c:pt idx="1">
                  <c:v>9</c:v>
                </c:pt>
                <c:pt idx="2">
                  <c:v>7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832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3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707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3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7075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ED94D-7677-4F70-8D02-8A79776F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LAB 3  /  QUALITY ASSURANCE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50E2C-20CF-4432-8AB5-B759DBF2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323A"/>
                </a:solidFill>
              </a:defRPr>
            </a:pPr>
            <a:r>
              <a:rPr sz="2550" b="1">
                <a:solidFill>
                  <a:srgbClr val="18323A"/>
                </a:solidFill>
              </a:rPr>
              <a:t>Pareto Analysis | Defect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284F0-73C4-4FBC-AE6B-31FD5D36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B7075"/>
                </a:solidFill>
              </a:defRPr>
            </a:pPr>
            <a:r>
              <a:rPr sz="975" b="1">
                <a:solidFill>
                  <a:srgbClr val="5B7075"/>
                </a:solidFill>
              </a:rPr>
              <a:t>PART 2  | 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35E1B-89E6-4153-804A-22E50318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F51CC-A4D0-4320-ABF8-D3132AE2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7075"/>
                </a:solidFill>
              </a:defRPr>
            </a:pPr>
            <a:r>
              <a:rPr sz="1425" b="0">
                <a:solidFill>
                  <a:srgbClr val="5B7075"/>
                </a:solidFill>
              </a:rPr>
              <a:t>Testing check sheet totals by defect 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8F031-CACB-445F-8537-6DD3E4D8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562100"/>
            <a:ext cx="2619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47D78"/>
                </a:solidFill>
              </a:defRPr>
            </a:pPr>
            <a:r>
              <a:rPr sz="1125" b="1">
                <a:solidFill>
                  <a:srgbClr val="147D78"/>
                </a:solidFill>
              </a:rPr>
              <a:t>64 TOTAL ISSUES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027FE-31F8-4E62-8826-28EC5614CE82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953000"/>
                <a:gridCol w="1714500"/>
                <a:gridCol w="2000250"/>
                <a:gridCol w="2305050"/>
              </a:tblGrid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Defect type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Frequency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% of total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Cumulative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UI Defects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56.3%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56.3%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Mobile Responsiveness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14.1%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70.3%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Calculation Logic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10.9%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81.3%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Broken link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89.1%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Broken button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4.7%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93.8%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Database error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96.9%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Input validation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Total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56782-DC92-4D3C-A0E7-056F5AF9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Share = defect frequency / 64 × 100. Values are rounded to one decimal place.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FE9F0-C5C1-44BE-9C61-4DCAAC1D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75"/>
                </a:solidFill>
              </a:defRPr>
            </a:pPr>
            <a:r>
              <a:rPr sz="975" b="0">
                <a:solidFill>
                  <a:srgbClr val="5B7075"/>
                </a:solidFill>
              </a:rPr>
              <a:t>Source: Group 2 Check Sheet (Weeks 1-2)</a:t>
            </a:r>
          </a:p>
        </p:txBody>
      </p:sp>
    </p:spTree>
    <p:extLst>
      <p:ext uri="{BB962C8B-B14F-4D97-AF65-F5344CB8AC3E}">
        <p14:creationId xmlns:p14="http://schemas.microsoft.com/office/powerpoint/2010/main" val="506775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BDFACC-0B0A-488C-BC15-B02633FC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LAB 3  /  QUALITY ASSURANCE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CE284-202B-499C-ACAC-93843B83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323A"/>
                </a:solidFill>
              </a:defRPr>
            </a:pPr>
            <a:r>
              <a:rPr sz="2550" b="1">
                <a:solidFill>
                  <a:srgbClr val="18323A"/>
                </a:solidFill>
              </a:rPr>
              <a:t>Pareto Chart | Priority Defects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C258F-D935-4971-B78B-24645932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B7075"/>
                </a:solidFill>
              </a:defRPr>
            </a:pPr>
            <a:r>
              <a:rPr sz="975" b="1">
                <a:solidFill>
                  <a:srgbClr val="5B7075"/>
                </a:solidFill>
              </a:rPr>
              <a:t>PART 2  |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7C3BE-84A2-4217-8871-0E0A81E7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AED1E-9882-4676-802B-80EF812C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7075"/>
                </a:solidFill>
              </a:defRPr>
            </a:pPr>
            <a:r>
              <a:rPr sz="1350" b="0">
                <a:solidFill>
                  <a:srgbClr val="5B7075"/>
                </a:solidFill>
              </a:rPr>
              <a:t>Bars show issue frequency; the line shows cumulative share.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C5399E7-810C-4AFD-8452-2D9976F236DE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addff2a5184d6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AF59C-D871-4D19-88E8-391B9972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67990"/>
            <a:ext cx="651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6A53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2434E-879C-419A-B13C-FE80E625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021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A5B59-E07F-4074-96B0-4675C049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01616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56.3%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7BFAB-31A2-47F9-9ED2-1359575D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9200" y="3261420"/>
            <a:ext cx="1085850" cy="4259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1A39B-B340-443D-A6B3-D2F1B514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0427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284E8-48B8-4884-A7A1-4D716889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7567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70.3%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B9408-E072-45B7-952D-7075A1F3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05050" y="2930128"/>
            <a:ext cx="1085850" cy="331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2FBF8-631F-4E0A-B546-F0838053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297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98224-3C4C-44BB-BBED-250FD0AA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44378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81.3%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C57E5-139E-47AE-88DC-642BDE72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90900" y="2693491"/>
            <a:ext cx="1085850" cy="2366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979B8-6391-491A-BB3F-BAE263E5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634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E1D12-6144-4B29-A61F-59087BB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407741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89.1%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C2888-27FB-4273-946F-C3A194F0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76750" y="2551509"/>
            <a:ext cx="1085850" cy="1419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532F1-6F2C-491A-A6C9-3F72438F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9435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A3095-E232-4ABB-9A32-91FFD1DC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65759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93.8%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CF22F-880A-4A86-A100-7063CEC0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62600" y="2456855"/>
            <a:ext cx="1085850" cy="94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F7F9A2-F811-45DA-A931-D4040898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9970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A1748-AEE2-473C-9200-6E9D3215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7110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96.9%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BA0241-AEE4-4FFF-A825-2D1D6754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48450" y="2362200"/>
            <a:ext cx="1085850" cy="94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D9BB5E-B08F-4D99-8AE0-21BB73C8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05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08C0BC-2F0D-4874-A719-ED509708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764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100.0%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8BEEA7-AEE9-4BB9-B5CB-FBB6ABE5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7C51BC-14F3-4848-9484-DF4B213D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66A53"/>
                </a:solidFill>
              </a:defRPr>
            </a:pPr>
            <a:r>
              <a:rPr sz="1500" b="1">
                <a:solidFill>
                  <a:srgbClr val="D66A53"/>
                </a:solidFill>
              </a:rPr>
              <a:t>80% threshold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441EE8-3B62-42FD-AE53-7F0FE7D2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24125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23A"/>
                </a:solidFill>
              </a:defRPr>
            </a:pPr>
            <a:r>
              <a:rPr sz="1650" b="1">
                <a:solidFill>
                  <a:srgbClr val="18323A"/>
                </a:solidFill>
              </a:rPr>
              <a:t>The first 3 categories reach 81.3% of all recorded issues.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A2FB7D-BB4D-4461-8ECE-BDF59B09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04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Teal bars: issue count</a:t>
            </a:r>
          </a:p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Coral line: cumulative 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0C84D6-F6D6-458E-BE95-315613A9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Prioritize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2F345B-BBA1-4B49-A9BB-FDB145C0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8150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1. UI defects  |  36 issues</a:t>
            </a:r>
          </a:p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2. Mobile responsiveness  |  9</a:t>
            </a:r>
          </a:p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3. Calculation logic  |  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C6B169-C19C-42FB-A848-95D13136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3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B7075"/>
                </a:solidFill>
              </a:defRPr>
            </a:pPr>
            <a:r>
              <a:rPr sz="1200" b="1">
                <a:solidFill>
                  <a:srgbClr val="5B7075"/>
                </a:solidFill>
              </a:rPr>
              <a:t>Together: 52 of 64 issues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F8D552-0B24-4AE5-AD6D-B5A43264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75"/>
                </a:solidFill>
              </a:defRPr>
            </a:pPr>
            <a:r>
              <a:rPr sz="975" b="0">
                <a:solidFill>
                  <a:srgbClr val="5B7075"/>
                </a:solidFill>
              </a:rPr>
              <a:t>Source: Group 2 Check Sheet (Weeks 1-2)</a:t>
            </a:r>
          </a:p>
        </p:txBody>
      </p:sp>
    </p:spTree>
    <p:extLst>
      <p:ext uri="{BB962C8B-B14F-4D97-AF65-F5344CB8AC3E}">
        <p14:creationId xmlns:p14="http://schemas.microsoft.com/office/powerpoint/2010/main" val="105610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2026-10-12T12:10:37.4530000Z</dcterms:created>
  <dcterms:modified xsi:type="dcterms:W3CDTF">2026-10-12T12:10:37.4530000Z</dcterms:modified>
</coreProperties>
</file>