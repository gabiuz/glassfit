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c6a3fe58244181" /><Relationship Type="http://schemas.openxmlformats.org/officeDocument/2006/relationships/extended-properties" Target="/docProps/app.xml" Id="Red1551b5c8aa4efc" /><Relationship Type="http://schemas.openxmlformats.org/officeDocument/2006/relationships/officeDocument" Target="/ppt/presentation.xml" Id="R8a1a3f56f06341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2a477924e4f00"/>
  </p:sldMasterIdLst>
  <p:notesMasterIdLst>
    <p:notesMasterId xmlns:r="http://schemas.openxmlformats.org/officeDocument/2006/relationships" r:id="Rea4953d0cfae4800"/>
  </p:notesMasterIdLst>
  <p:sldIdLst>
    <p:sldId xmlns:r="http://schemas.openxmlformats.org/officeDocument/2006/relationships" id="256" r:id="R1c75b492e0b640a4"/>
    <p:sldId xmlns:r="http://schemas.openxmlformats.org/officeDocument/2006/relationships" id="257" r:id="Re6b2fc66e2564e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6e43abdbc44c76" /><Relationship Type="http://schemas.openxmlformats.org/officeDocument/2006/relationships/slideMaster" Target="/ppt/slideMasters/slideMaster1.xml" Id="R6972a477924e4f00" /><Relationship Type="http://schemas.openxmlformats.org/officeDocument/2006/relationships/notesMaster" Target="/ppt/notesMasters/notesMaster1.xml" Id="Rea4953d0cfae4800" /><Relationship Type="http://schemas.openxmlformats.org/officeDocument/2006/relationships/presProps" Target="/ppt/presProps.xml" Id="R2749608d09c8426d" /><Relationship Type="http://schemas.openxmlformats.org/officeDocument/2006/relationships/tableStyles" Target="/ppt/tableStyles.xml" Id="R1cf1def2756d47ea" /><Relationship Type="http://schemas.openxmlformats.org/officeDocument/2006/relationships/slide" Target="/ppt/slides/slide1.xml" Id="R1c75b492e0b640a4" /><Relationship Type="http://schemas.openxmlformats.org/officeDocument/2006/relationships/slide" Target="/ppt/slides/slide2.xml" Id="Re6b2fc66e2564e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88077d545d40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e3e43c75d4ba3" /><Relationship Type="http://schemas.openxmlformats.org/officeDocument/2006/relationships/notesMaster" Target="/ppt/notesMasters/notesMaster1.xml" Id="R0b47791608e64c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c943fd675c4a80" /><Relationship Type="http://schemas.openxmlformats.org/officeDocument/2006/relationships/notesMaster" Target="/ppt/notesMasters/notesMaster1.xml" Id="R9d52c4b3f3d54f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The frequencies are the supplied Total column. Total issues = 64. Percent = frequency / 64 × 100; cumulative percent is computed from the ranked counts before display rounding.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Categories are sorted highest to lowest. Top three sum to 52 / 64 = 81.25%, displayed as 81.3%. Prioritization follows the requested Pareto rule: address the smallest ranked set that accounts for at least 80% of issues.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68c42ace942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d84e7e54044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e56d152c24d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06796fda44a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9dc171f9248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0919e6be245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44C512-6423-4DD2-9ED3-12E059DD8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5452A8-F47C-447D-8A7F-BE31C2B9F0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59CABD-46C2-4BF8-B8C6-7CC889475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CFF988-7F4F-4005-8059-2DF48BEC2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9151AD-C8D1-44BC-8C2C-94D7D5B8B7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E307DF-3240-4000-A45E-B94DCD2A9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B1AD50-453C-43C0-9279-FA101B03F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5BECF9-31FA-4A48-B0B4-63DBF61878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777FC2-42C1-4267-AF0E-DE066ADF1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2081B1-B708-4439-A0F2-26A91F45C4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f521eb92ef431c" /><Relationship Type="http://schemas.openxmlformats.org/officeDocument/2006/relationships/slideLayout" Target="/ppt/slideLayouts/slideLayout1.xml" Id="Ra48938b346074333" /><Relationship Type="http://schemas.openxmlformats.org/officeDocument/2006/relationships/slideLayout" Target="/ppt/slideLayouts/slideLayout2.xml" Id="R17ee15e7710d439a" /><Relationship Type="http://schemas.openxmlformats.org/officeDocument/2006/relationships/slideLayout" Target="/ppt/slideLayouts/slideLayout3.xml" Id="Rb9b4509f66c3479b" /><Relationship Type="http://schemas.openxmlformats.org/officeDocument/2006/relationships/slideLayout" Target="/ppt/slideLayouts/slideLayout4.xml" Id="R2654d41c0d4e4dd8" /><Relationship Type="http://schemas.openxmlformats.org/officeDocument/2006/relationships/slideLayout" Target="/ppt/slideLayouts/slideLayout5.xml" Id="Rc4930be527494f7a" /><Relationship Type="http://schemas.openxmlformats.org/officeDocument/2006/relationships/slideLayout" Target="/ppt/slideLayouts/slideLayout6.xml" Id="R709a60a3f8e8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8938b346074333"/>
    <p:sldLayoutId xmlns:r="http://schemas.openxmlformats.org/officeDocument/2006/relationships" id="2147483650" r:id="R17ee15e7710d439a"/>
    <p:sldLayoutId xmlns:r="http://schemas.openxmlformats.org/officeDocument/2006/relationships" id="2147483651" r:id="Rb9b4509f66c3479b"/>
    <p:sldLayoutId xmlns:r="http://schemas.openxmlformats.org/officeDocument/2006/relationships" id="2147483652" r:id="R2654d41c0d4e4dd8"/>
    <p:sldLayoutId xmlns:r="http://schemas.openxmlformats.org/officeDocument/2006/relationships" id="2147483653" r:id="Rc4930be527494f7a"/>
    <p:sldLayoutId xmlns:r="http://schemas.openxmlformats.org/officeDocument/2006/relationships" id="2147483654" r:id="R709a60a3f8e8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9d83c76814963" /><Relationship Type="http://schemas.openxmlformats.org/officeDocument/2006/relationships/notesSlide" Target="/ppt/notesSlides/notesSlide1.xml" Id="Rff67119100ef4c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340cb2cde4191" /><Relationship Type="http://schemas.openxmlformats.org/officeDocument/2006/relationships/chart" Target="/ppt/slides/charts/chart1.xml" Id="R6186eb0b1e7d48a7" /><Relationship Type="http://schemas.openxmlformats.org/officeDocument/2006/relationships/notesSlide" Target="/ppt/notesSlides/notesSlide2.xml" Id="Re3eea6e69ec5429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Defect frequency</c:v>
          </c:tx>
          <c:spPr>
            <a:solidFill xmlns:a="http://schemas.openxmlformats.org/drawingml/2006/main">
              <a:srgbClr val="147D78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UI Defects</c:v>
                </c:pt>
                <c:pt idx="1">
                  <c:v>Mobile Responsiveness</c:v>
                </c:pt>
                <c:pt idx="2">
                  <c:v>Calculation Logic</c:v>
                </c:pt>
                <c:pt idx="3">
                  <c:v>Broken link</c:v>
                </c:pt>
                <c:pt idx="4">
                  <c:v>Broken button</c:v>
                </c:pt>
                <c:pt idx="5">
                  <c:v>Database error</c:v>
                </c:pt>
                <c:pt idx="6">
                  <c:v>Input validation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36</c:v>
                </c:pt>
                <c:pt idx="1">
                  <c:v>9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832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3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BDFA9-D7DD-456A-89C0-447F06B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EEC6B-99AF-48A4-B757-8FD0A6F7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Analysis | Defect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B2226-9868-4C54-937A-C6C6C4C0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231E2-A355-4ED2-8973-8A325BB0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F40F8-E1B6-48CF-9588-EA7AA34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7075"/>
                </a:solidFill>
              </a:defRPr>
            </a:pPr>
            <a:r>
              <a:rPr sz="1425" b="0">
                <a:solidFill>
                  <a:srgbClr val="5B7075"/>
                </a:solidFill>
              </a:rPr>
              <a:t>Testing check sheet totals by defect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4AF66-E825-48B9-8FAB-B5BEC2F9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562100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47D78"/>
                </a:solidFill>
              </a:defRPr>
            </a:pPr>
            <a:r>
              <a:rPr sz="1125" b="1">
                <a:solidFill>
                  <a:srgbClr val="147D78"/>
                </a:solidFill>
              </a:rPr>
              <a:t>64 TOTAL ISSUES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093E0-C26C-4E9D-BA78-82B15A2309F0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53000"/>
                <a:gridCol w="1714500"/>
                <a:gridCol w="2000250"/>
                <a:gridCol w="2305050"/>
              </a:tblGrid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Defect 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% of total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Cumulative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UI Defects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Mobile Responsiveness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14.1%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70.3%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Calculation 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81.3%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link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89.1%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button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4.7%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93.8%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Database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96.9%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Input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1EDDC-4446-4E62-98EE-4141249D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Share = defect frequency / 64 × 100. Values are rounded to one decimal 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05C18-B260-4941-ACE8-39D5A125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741048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8910B0-51BB-46A8-8A99-DFE0CD99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4CA3D-7CDD-4D6B-8F2D-3DFD0B5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Chart | Priority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96C83-50B2-412A-AD41-5BA96C11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13DCD-5D4F-4414-A496-F4B03139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9CAAD-D0F6-4601-9106-89BCD307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75"/>
                </a:solidFill>
              </a:defRPr>
            </a:pPr>
            <a:r>
              <a:rPr sz="1350" b="0">
                <a:solidFill>
                  <a:srgbClr val="5B7075"/>
                </a:solidFill>
              </a:rPr>
              <a:t>Bars show issue frequency; the line shows cumulative share.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B6646D5-F01C-4818-98DA-17EFF935BCF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86eb0b1e7d48a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1B270-94CF-476B-ADEC-42262267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7990"/>
            <a:ext cx="651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6A53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253A5-133A-4459-ADED-A1FB6C94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02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3658C-5210-490C-94F5-A89CB5B9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1616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56.3%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68B68-ACBD-4E42-8A2F-F9CFCB8F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200" y="3261420"/>
            <a:ext cx="1085850" cy="425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2CD91-D4DD-456A-B1C5-8BEF693A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42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EA8CB-D571-4610-A454-0F76A16B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7567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70.3%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E8C65-2877-42A9-BF2F-198C6F4B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5050" y="2930128"/>
            <a:ext cx="1085850" cy="33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D35D1-371A-407E-854C-D1ABBC76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29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79C07-F3F1-4D9C-85A7-15BF5B9B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44378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81.3%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95E98-60FC-4755-8EEE-1D293E60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90900" y="2693491"/>
            <a:ext cx="1085850" cy="236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9C7F0-B47A-43B1-BEFD-1B4FAE7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634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1E869-3153-42C6-837C-F8771F3D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7741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89.1%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7F127-5071-488A-8B2F-F4FCF655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76750" y="2551509"/>
            <a:ext cx="1085850" cy="141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06521-A69E-4F4E-9ADC-FA18A36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435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6F649-AEC2-4FAD-9E88-0D55385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5759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93.8%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89811-FA8C-41C8-8E0F-3DBB9AAC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62600" y="2456855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B39B5-250D-4063-B35C-E261D2F8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97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57D8C-014C-41E5-9217-BE525F6D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10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96.9%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93D8C-70C2-44E0-9236-114BDAC1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48450" y="2362200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8C869-12C6-4855-B8F5-93CE35AF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C71257-152D-4B0C-81F4-AB59D4A3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100.0%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163C0-D3A6-4096-9FDA-31FD3547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827341-B266-44C7-8632-6673A0C9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66A53"/>
                </a:solidFill>
              </a:defRPr>
            </a:pPr>
            <a:r>
              <a:rPr sz="1500" b="1">
                <a:solidFill>
                  <a:srgbClr val="D66A53"/>
                </a:solidFill>
              </a:rPr>
              <a:t>80% 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768F6-96F7-45B7-9401-570DDE05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3A"/>
                </a:solidFill>
              </a:defRPr>
            </a:pPr>
            <a:r>
              <a:rPr sz="1650" b="1">
                <a:solidFill>
                  <a:srgbClr val="18323A"/>
                </a:solidFill>
              </a:rPr>
              <a:t>The first 3 categories reach 81.3% of all recorded issues.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3961A-24D3-411E-9B5A-D521F1A7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0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Teal bars: issue count</a:t>
            </a:r>
          </a:p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Coral line: cumulative 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31B58-7221-4ECA-8FE0-7569CB00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Prioritize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E03A8-7FF6-4F80-B6C3-2A8797C2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815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1. UI defects  |  36 issues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2. Mobile responsiveness  |  9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3. Calculation logic  | 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6E394-E969-4776-8EAF-2D575D8C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3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B7075"/>
                </a:solidFill>
              </a:defRPr>
            </a:pPr>
            <a:r>
              <a:rPr sz="1200" b="1">
                <a:solidFill>
                  <a:srgbClr val="5B7075"/>
                </a:solidFill>
              </a:rPr>
              <a:t>Together: 52 of 64 issues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0C0222-9B73-4894-A9EC-E0FB4EF1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801446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2026-10-12T12:09:10.6040000Z</dcterms:created>
  <dcterms:modified xsi:type="dcterms:W3CDTF">2026-10-12T12:09:10.6040000Z</dcterms:modified>
</coreProperties>
</file>