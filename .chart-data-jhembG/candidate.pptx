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a9a7990544b04" /><Relationship Type="http://schemas.openxmlformats.org/officeDocument/2006/relationships/extended-properties" Target="/docProps/app.xml" Id="Ra9c2198410c64234" /><Relationship Type="http://schemas.openxmlformats.org/officeDocument/2006/relationships/officeDocument" Target="/ppt/presentation.xml" Id="Rbf8c876a35d2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8bd32eaaaa4c29"/>
  </p:sldMasterIdLst>
  <p:notesMasterIdLst>
    <p:notesMasterId xmlns:r="http://schemas.openxmlformats.org/officeDocument/2006/relationships" r:id="R54feef4b67ca4734"/>
  </p:notesMasterIdLst>
  <p:sldIdLst>
    <p:sldId xmlns:r="http://schemas.openxmlformats.org/officeDocument/2006/relationships" id="256" r:id="Rfb2a4512359945eb"/>
    <p:sldId xmlns:r="http://schemas.openxmlformats.org/officeDocument/2006/relationships" id="257" r:id="R31b09826be3440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195b770c094fb1" /><Relationship Type="http://schemas.openxmlformats.org/officeDocument/2006/relationships/slideMaster" Target="/ppt/slideMasters/slideMaster1.xml" Id="Re48bd32eaaaa4c29" /><Relationship Type="http://schemas.openxmlformats.org/officeDocument/2006/relationships/notesMaster" Target="/ppt/notesMasters/notesMaster1.xml" Id="R54feef4b67ca4734" /><Relationship Type="http://schemas.openxmlformats.org/officeDocument/2006/relationships/presProps" Target="/ppt/presProps.xml" Id="Ra9e248970d4b4138" /><Relationship Type="http://schemas.openxmlformats.org/officeDocument/2006/relationships/tableStyles" Target="/ppt/tableStyles.xml" Id="Re80ef43d313d475e" /><Relationship Type="http://schemas.openxmlformats.org/officeDocument/2006/relationships/slide" Target="/ppt/slides/slide1.xml" Id="Rfb2a4512359945eb" /><Relationship Type="http://schemas.openxmlformats.org/officeDocument/2006/relationships/slide" Target="/ppt/slides/slide2.xml" Id="R31b09826be34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c12f2eeff1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fd96e2d7846eb" /><Relationship Type="http://schemas.openxmlformats.org/officeDocument/2006/relationships/notesMaster" Target="/ppt/notesMasters/notesMaster1.xml" Id="Rb584fe5ba512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1c46a697ed42e0" /><Relationship Type="http://schemas.openxmlformats.org/officeDocument/2006/relationships/notesMaster" Target="/ppt/notesMasters/notesMaster1.xml" Id="Re6cd0b1f90f04c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The frequencies are the supplied Total column. Total issues = 64. Percent = frequency / 64 × 100; cumulative percent is computed from the ranked counts before display rounding.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Lab3_Group2.pdf, the attached Part 1 check sheet. Categories are sorted highest to lowest. Top three sum to 52 / 64 = 81.25%, displayed as 81.3%. Prioritization follows the requested Pareto rule: address the smallest ranked set that accounts for at least 80% of 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e2da9fa814d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8cc6c803d4e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67a49363442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82fdf8d9a4c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a9e23bbab46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9588959f2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8333E1-67BF-45DF-A914-784A9CA270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02E212-7B87-4CD3-85C7-0679F605363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4A61AA-DF56-4641-813D-6AFE79290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B198F-CD18-4FE8-9104-C15A16F60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B3F426-35C6-4BD3-B5B9-782B1D90B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0EAC35-A2DC-4357-AB2C-EA3E7ABF70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641AEF-4A59-4BE4-81DF-91AA6CAD9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FD5905-9574-4212-83DC-2E6C13B2A7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370BAB-D4A4-44BE-BD00-42C8E6760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9D2C70-CF0E-4886-B3BA-8280AF174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341e1a81c64490" /><Relationship Type="http://schemas.openxmlformats.org/officeDocument/2006/relationships/slideLayout" Target="/ppt/slideLayouts/slideLayout1.xml" Id="Rfa8236906ee14ad0" /><Relationship Type="http://schemas.openxmlformats.org/officeDocument/2006/relationships/slideLayout" Target="/ppt/slideLayouts/slideLayout2.xml" Id="R043ed43b1f834625" /><Relationship Type="http://schemas.openxmlformats.org/officeDocument/2006/relationships/slideLayout" Target="/ppt/slideLayouts/slideLayout3.xml" Id="Rade41b50a9484f7e" /><Relationship Type="http://schemas.openxmlformats.org/officeDocument/2006/relationships/slideLayout" Target="/ppt/slideLayouts/slideLayout4.xml" Id="Reee0e16c2f2649ac" /><Relationship Type="http://schemas.openxmlformats.org/officeDocument/2006/relationships/slideLayout" Target="/ppt/slideLayouts/slideLayout5.xml" Id="Rb0dd2e7f1bec421a" /><Relationship Type="http://schemas.openxmlformats.org/officeDocument/2006/relationships/slideLayout" Target="/ppt/slideLayouts/slideLayout6.xml" Id="Ra414be1f31df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8236906ee14ad0"/>
    <p:sldLayoutId xmlns:r="http://schemas.openxmlformats.org/officeDocument/2006/relationships" id="2147483650" r:id="R043ed43b1f834625"/>
    <p:sldLayoutId xmlns:r="http://schemas.openxmlformats.org/officeDocument/2006/relationships" id="2147483651" r:id="Rade41b50a9484f7e"/>
    <p:sldLayoutId xmlns:r="http://schemas.openxmlformats.org/officeDocument/2006/relationships" id="2147483652" r:id="Reee0e16c2f2649ac"/>
    <p:sldLayoutId xmlns:r="http://schemas.openxmlformats.org/officeDocument/2006/relationships" id="2147483653" r:id="Rb0dd2e7f1bec421a"/>
    <p:sldLayoutId xmlns:r="http://schemas.openxmlformats.org/officeDocument/2006/relationships" id="2147483654" r:id="Ra414be1f31df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cc197ebe64743" /><Relationship Type="http://schemas.openxmlformats.org/officeDocument/2006/relationships/notesSlide" Target="/ppt/notesSlides/notesSlide1.xml" Id="Rdd190566e22344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48fa1bb0e49e8" /><Relationship Type="http://schemas.openxmlformats.org/officeDocument/2006/relationships/chart" Target="/ppt/slides/charts/chart1.xml" Id="R67dfa5fd63e04709" /><Relationship Type="http://schemas.openxmlformats.org/officeDocument/2006/relationships/notesSlide" Target="/ppt/notesSlides/notesSlide2.xml" Id="Rf5baac0092354d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Defect frequency</c:v>
          </c:tx>
          <c:spPr>
            <a:solidFill xmlns:a="http://schemas.openxmlformats.org/drawingml/2006/main">
              <a:srgbClr val="147D78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UI Defects</c:v>
                </c:pt>
                <c:pt idx="1">
                  <c:v>Mobile Responsiveness</c:v>
                </c:pt>
                <c:pt idx="2">
                  <c:v>Calculation Logic</c:v>
                </c:pt>
                <c:pt idx="3">
                  <c:v>Broken link</c:v>
                </c:pt>
                <c:pt idx="4">
                  <c:v>Broken button</c:v>
                </c:pt>
                <c:pt idx="5">
                  <c:v>Database error</c:v>
                </c:pt>
                <c:pt idx="6">
                  <c:v>Input validation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36</c:v>
                </c:pt>
                <c:pt idx="1">
                  <c:v>9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832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3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707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46B1E-F20A-40CA-890C-D6343D5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9195C-7208-4230-AF27-62AFF4F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Analysis | Defect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5B7A-0EF3-4B15-9891-37DAF71A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F13C3-94CB-415C-87C5-24CA87A0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9CFC-68E8-444F-A694-75133FBA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7075"/>
                </a:solidFill>
              </a:defRPr>
            </a:pPr>
            <a:r>
              <a:rPr sz="1425" b="0">
                <a:solidFill>
                  <a:srgbClr val="5B7075"/>
                </a:solidFill>
              </a:rPr>
              <a:t>Testing check sheet totals by defect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C8BA4-D2BC-4D02-9FFD-FA25B9ED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56210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47D78"/>
                </a:solidFill>
              </a:defRPr>
            </a:pPr>
            <a:r>
              <a:rPr sz="1125" b="1">
                <a:solidFill>
                  <a:srgbClr val="147D78"/>
                </a:solidFill>
              </a:rPr>
              <a:t>64 TOTAL ISSUES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F94C8-268D-4414-9B42-A1BA443FB92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1714500"/>
                <a:gridCol w="2000250"/>
                <a:gridCol w="2305050"/>
              </a:tblGrid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Defect type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% of total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Cumulative 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T w="9525">
                      <a:solidFill>
                        <a:srgbClr val="D8E3E1"/>
                      </a:solidFill>
                      <a:prstDash val="solid"/>
                    </a:lnT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18323A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UI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Mobile Responsiveness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14.1%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70.3%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Calculation Logic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81.3%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E7F3F0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link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Broken button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4.7%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93.8%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Database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96.9%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Input validation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3.1%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42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3E1"/>
                      </a:solidFill>
                      <a:prstDash val="solid"/>
                    </a:lnL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832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3E1"/>
                      </a:solidFill>
                      <a:prstDash val="solid"/>
                    </a:lnR>
                    <a:lnB w="9525">
                      <a:solidFill>
                        <a:srgbClr val="D8E3E1"/>
                      </a:solidFill>
                      <a:prstDash val="solid"/>
                    </a:lnB>
                    <a:solidFill>
                      <a:srgbClr val="CFE9E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B0584-BD3F-42A4-BD05-810B583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Share = defect frequency / 64 × 100. Values are rounded to one decimal place.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61536-C9ED-4398-AA13-E3414A3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580362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795792-CC7B-48B5-B967-57E761DD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LAB 3  /  QUALITY ASSURANCE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A33B4-C99D-40FB-A3E9-87C3FE0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23A"/>
                </a:solidFill>
              </a:defRPr>
            </a:pPr>
            <a:r>
              <a:rPr sz="2550" b="1">
                <a:solidFill>
                  <a:srgbClr val="18323A"/>
                </a:solidFill>
              </a:rPr>
              <a:t>Pareto Chart | Priority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62C3-F0C5-474E-93AD-96F08890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B7075"/>
                </a:solidFill>
              </a:defRPr>
            </a:pPr>
            <a:r>
              <a:rPr sz="975" b="1">
                <a:solidFill>
                  <a:srgbClr val="5B7075"/>
                </a:solidFill>
              </a:rPr>
              <a:t>PART 2  |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19E20-4B95-4AF0-A30F-C48F790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8A4E6-8B49-47C0-8165-DA0C55A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75"/>
                </a:solidFill>
              </a:defRPr>
            </a:pPr>
            <a:r>
              <a:rPr sz="1350" b="0">
                <a:solidFill>
                  <a:srgbClr val="5B7075"/>
                </a:solidFill>
              </a:rPr>
              <a:t>Bars show issue frequency; the line shows cumulative share.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8047194-7DB3-4ECA-B173-5A8C51013F8A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dfa5fd63e0470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ED886-67B0-4F7F-94F1-CDCF6BD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7990"/>
            <a:ext cx="6515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6A53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A58A5-4BFF-42BF-A353-80DB2550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02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9139F-D8B8-430F-9AD8-C32458CF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1616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56.3%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8CC13-9335-41DB-8C79-271FE14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19200" y="3261420"/>
            <a:ext cx="1085850" cy="4259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52B82-D310-4DC6-99AA-05E53FDA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427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C4D7-31C9-4F66-96AC-87113CE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567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70.3%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9A254-8C2C-4AE5-B8EF-EFB5EFF3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05050" y="2930128"/>
            <a:ext cx="1085850" cy="33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6046E-F82B-4DFB-B9CD-02CD161A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29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3B942-1E9F-45FE-B01D-BDFAF46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44378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81.3%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5AAD5-CFEF-4454-AD74-BE05C66F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90900" y="2693491"/>
            <a:ext cx="1085850" cy="2366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11FC9-4A5E-4AE9-BEFF-1F6E6954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634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FEFAC-D734-41E5-A9A6-4A8B4C5D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7741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89.1%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0562A-4E84-4022-881B-5AA45445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76750" y="2551509"/>
            <a:ext cx="1085850" cy="1419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EBEC1-D578-46DD-9FAE-23C5E0E6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435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EAF34-4F8A-432F-8ABA-64B5745E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5759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93.8%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C18EA-1351-4E1C-B12A-20301F8F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62600" y="2456855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027D1-D93C-4B98-9568-AEC422A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97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87B16-6427-41F8-AA38-33B179C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10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96.9%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6F7B5-2CBB-4BD8-BA22-EE6D9BC5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648450" y="2362200"/>
            <a:ext cx="1085850" cy="946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66A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47363-F3F0-442F-AC38-D3CE8552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6A5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C4B2D-844C-4C62-AA0C-15CB5FC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D66A53"/>
                </a:solidFill>
              </a:defRPr>
            </a:pPr>
            <a:r>
              <a:rPr sz="825" b="1">
                <a:solidFill>
                  <a:srgbClr val="D66A53"/>
                </a:solidFill>
              </a:rPr>
              <a:t>100.0%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B420B-8553-45D7-9315-8D6E403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D35EF-E86A-4B05-B71D-CA93D0B1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D66A5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66A53"/>
                </a:solidFill>
              </a:defRPr>
            </a:pPr>
            <a:r>
              <a:rPr sz="1500" b="1">
                <a:solidFill>
                  <a:srgbClr val="D66A53"/>
                </a:solidFill>
              </a:rPr>
              <a:t>80%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44C70-D09F-4721-83D3-B9F54499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24125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23A"/>
                </a:solidFill>
              </a:defRPr>
            </a:pPr>
            <a:r>
              <a:rPr sz="1650" b="1">
                <a:solidFill>
                  <a:srgbClr val="18323A"/>
                </a:solidFill>
              </a:rPr>
              <a:t>The first 3 categories reach 81.3% of all recorded issues.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0A0EB4-B68F-4353-8361-F6DE8B41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04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Teal bars: issue count</a:t>
            </a:r>
          </a:p>
          <a:p xmlns:a="http://schemas.openxmlformats.org/drawingml/2006/main">
            <a:pPr>
              <a:defRPr sz="1050" b="0">
                <a:solidFill>
                  <a:srgbClr val="5B7075"/>
                </a:solidFill>
              </a:defRPr>
            </a:pPr>
            <a:r>
              <a:rPr sz="1050" b="0">
                <a:solidFill>
                  <a:srgbClr val="5B7075"/>
                </a:solidFill>
              </a:rPr>
              <a:t>Coral line: cumulative 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EF16F8-B738-404B-81C5-370B8088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47D7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47D78"/>
                </a:solidFill>
              </a:defRPr>
            </a:pPr>
            <a:r>
              <a:rPr sz="1050" b="1">
                <a:solidFill>
                  <a:srgbClr val="147D78"/>
                </a:solidFill>
              </a:rPr>
              <a:t>Prioritize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446A3A-4465-4D4B-8012-4D8329E7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8150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8323A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1. UI defects  |  36 issues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2. Mobile responsiveness  |  9</a:t>
            </a:r>
          </a:p>
          <a:p xmlns:a="http://schemas.openxmlformats.org/drawingml/2006/main">
            <a:pPr>
              <a:defRPr sz="1275" b="0">
                <a:solidFill>
                  <a:srgbClr val="18323A"/>
                </a:solidFill>
              </a:defRPr>
            </a:pPr>
            <a:r>
              <a:rPr sz="1275" b="0">
                <a:solidFill>
                  <a:srgbClr val="18323A"/>
                </a:solidFill>
              </a:rPr>
              <a:t>3. Calculation logic  | 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124E9-1F38-4612-B0A3-31226BA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3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B7075"/>
                </a:solidFill>
              </a:defRPr>
            </a:pPr>
            <a:r>
              <a:rPr sz="1200" b="1">
                <a:solidFill>
                  <a:srgbClr val="5B7075"/>
                </a:solidFill>
              </a:rPr>
              <a:t>Together: 52 of 64 issues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DD0272-9552-4D91-B4E0-57C5A75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B7075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75"/>
                </a:solidFill>
              </a:defRPr>
            </a:pPr>
            <a:r>
              <a:rPr sz="975" b="0">
                <a:solidFill>
                  <a:srgbClr val="5B7075"/>
                </a:solidFill>
              </a:rPr>
              <a:t>Source: Group 2 Check Sheet (Weeks 1-2)</a:t>
            </a:r>
          </a:p>
        </p:txBody>
      </p:sp>
    </p:spTree>
    <p:extLst>
      <p:ext uri="{BB962C8B-B14F-4D97-AF65-F5344CB8AC3E}">
        <p14:creationId xmlns:p14="http://schemas.microsoft.com/office/powerpoint/2010/main" val="1674586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2026-10-12T12:09:03.3910000Z</dcterms:created>
  <dcterms:modified xsi:type="dcterms:W3CDTF">2026-10-12T12:09:03.3910000Z</dcterms:modified>
</coreProperties>
</file>