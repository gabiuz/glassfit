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0cc6ad68a74c57" /><Relationship Type="http://schemas.openxmlformats.org/officeDocument/2006/relationships/extended-properties" Target="/docProps/app.xml" Id="Rcbd6cc5bbc9f44b2" /><Relationship Type="http://schemas.openxmlformats.org/officeDocument/2006/relationships/officeDocument" Target="/ppt/presentation.xml" Id="R8d77f2f51cf5460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de5380453724230"/>
  </p:sldMasterIdLst>
  <p:notesMasterIdLst>
    <p:notesMasterId xmlns:r="http://schemas.openxmlformats.org/officeDocument/2006/relationships" r:id="R4ddc574892824afb"/>
  </p:notesMasterIdLst>
  <p:sldIdLst>
    <p:sldId xmlns:r="http://schemas.openxmlformats.org/officeDocument/2006/relationships" id="256" r:id="Re8067fc3d4a447d6"/>
    <p:sldId xmlns:r="http://schemas.openxmlformats.org/officeDocument/2006/relationships" id="257" r:id="R48846c974ffc45a3"/>
    <p:sldId xmlns:r="http://schemas.openxmlformats.org/officeDocument/2006/relationships" id="258" r:id="R46e1ac8bd7204b22"/>
    <p:sldId xmlns:r="http://schemas.openxmlformats.org/officeDocument/2006/relationships" id="259" r:id="R699bfb7cb24d47c5"/>
    <p:sldId xmlns:r="http://schemas.openxmlformats.org/officeDocument/2006/relationships" id="260" r:id="Rd0b877073581421f"/>
    <p:sldId xmlns:r="http://schemas.openxmlformats.org/officeDocument/2006/relationships" id="261" r:id="R1a9f6e04aefa4372"/>
  </p:sldIdLst>
  <p:sldSz cx="18288000" cy="10287000"/>
  <p:notesSz cx="6858000" cy="9144000"/>
  <p:embeddedFontLst>
    <p:embeddedFont>
      <p:font typeface="Open Sauce"/>
      <p:regular xmlns:r="http://schemas.openxmlformats.org/officeDocument/2006/relationships" r:id="R9a19e274deff4d23"/>
    </p:embeddedFont>
    <p:embeddedFont>
      <p:font typeface="Open Sauce Bold"/>
      <p:regular xmlns:r="http://schemas.openxmlformats.org/officeDocument/2006/relationships" r:id="Rab104ad7c0784525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844e0c7df44bf" /><Relationship Type="http://schemas.openxmlformats.org/officeDocument/2006/relationships/slideMaster" Target="/ppt/slideMasters/slideMaster1.xml" Id="R6de5380453724230" /><Relationship Type="http://schemas.openxmlformats.org/officeDocument/2006/relationships/notesMaster" Target="/ppt/notesMasters/notesMaster1.xml" Id="R4ddc574892824afb" /><Relationship Type="http://schemas.openxmlformats.org/officeDocument/2006/relationships/presProps" Target="/ppt/presProps.xml" Id="R67e58670bf664fc3" /><Relationship Type="http://schemas.openxmlformats.org/officeDocument/2006/relationships/viewProps" Target="/ppt/viewProps.xml" Id="Rd976da5c687c4464" /><Relationship Type="http://schemas.openxmlformats.org/officeDocument/2006/relationships/tableStyles" Target="/ppt/tableStyles.xml" Id="R96933bf6c1d041fb" /><Relationship Type="http://schemas.openxmlformats.org/officeDocument/2006/relationships/font" Target="/ppt/fonts/font.dat" Id="R9a19e274deff4d23" /><Relationship Type="http://schemas.openxmlformats.org/officeDocument/2006/relationships/font" Target="/ppt/fonts/font2.dat" Id="Rab104ad7c0784525" /><Relationship Type="http://schemas.openxmlformats.org/officeDocument/2006/relationships/slide" Target="/ppt/slides/slide1.xml" Id="Re8067fc3d4a447d6" /><Relationship Type="http://schemas.openxmlformats.org/officeDocument/2006/relationships/slide" Target="/ppt/slides/slide2.xml" Id="R48846c974ffc45a3" /><Relationship Type="http://schemas.openxmlformats.org/officeDocument/2006/relationships/slide" Target="/ppt/slides/slide3.xml" Id="R46e1ac8bd7204b22" /><Relationship Type="http://schemas.openxmlformats.org/officeDocument/2006/relationships/slide" Target="/ppt/slides/slide4.xml" Id="R699bfb7cb24d47c5" /><Relationship Type="http://schemas.openxmlformats.org/officeDocument/2006/relationships/slide" Target="/ppt/slides/slide5.xml" Id="Rd0b877073581421f" /><Relationship Type="http://schemas.openxmlformats.org/officeDocument/2006/relationships/slide" Target="/ppt/slides/slide6.xml" Id="R1a9f6e04aefa43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23a8e2067c46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a5832ad12406e" /><Relationship Type="http://schemas.openxmlformats.org/officeDocument/2006/relationships/notesMaster" Target="/ppt/notesMasters/notesMaster1.xml" Id="R7ab7e1d7d4d847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1e0ad2430042d9" /><Relationship Type="http://schemas.openxmlformats.org/officeDocument/2006/relationships/notesMaster" Target="/ppt/notesMasters/notesMaster1.xml" Id="R42823126530d42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b449bf645a4294" /><Relationship Type="http://schemas.openxmlformats.org/officeDocument/2006/relationships/notesMaster" Target="/ppt/notesMasters/notesMaster1.xml" Id="R6bdfc7fae62d4e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68cbd913fb4d4e" /><Relationship Type="http://schemas.openxmlformats.org/officeDocument/2006/relationships/notesMaster" Target="/ppt/notesMasters/notesMaster1.xml" Id="R361114fc25b245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b02e16892f424f" /><Relationship Type="http://schemas.openxmlformats.org/officeDocument/2006/relationships/notesMaster" Target="/ppt/notesMasters/notesMaster1.xml" Id="R235b25ca863947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ee42e0d71248be" /><Relationship Type="http://schemas.openxmlformats.org/officeDocument/2006/relationships/notesMaster" Target="/ppt/notesMasters/notesMaster1.xml" Id="R5aeac7610f384c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Measurement is a planned and consistent way to collect evidence about quality. GlassFit examples include workflow completion, image-analysis time, and user feedback. Source: ISO/IEC 25010:2023, https://www.iso.org/standard/78176.html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ISO/IEC 25010:2023 defines a product quality model for specifying, measuring, and evaluating software quality. NIST SP 500-209 documents defect/error metrics. DORA describes current software delivery performance metrics. Sources: https://www.iso.org/standard/78176.html ; https://nvlpubs.nist.gov/nistpubs/Legacy/SP/nistspecialpublication500-209.pdf ; https://dora.dev/guides/dora-metrics/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data to establish a baseline, look for patterns, prioritize improvements, and check whether changes improve outcomes. DORA encourages teams to measure over time and validate progress. Source: https://dora.dev/guides/dora-metrics/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GlassFit’s methodology plans quantitative Likert-scale questionnaire data and qualitative open-ended feedback. Pair ratings and counts with comments and observations to understand both outcomes and causes.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GlassFit task success and questionnaire measures align with the project evaluation plan. The image-analysis p95 target is specified in QAD-VG2: under 2,500 ms for an 8 MP photo under 20 concurrent requests. Sources: Copy of GlassFit Chapter 1-3, Evaluation Plan and Data Analysis; docs/qad-glassfit.md, QAD-VG2.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include ISO/IEC 25010:2023, DORA software delivery performance metrics, NIST SP 500-209, the GlassFit capstone manuscript, and the GlassFit Quality Assurance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a85ab55ea4c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e4bdb50c44d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d5ea9d99e4f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26b4b20014e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c0e2f2fac48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d374c7d7c489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e83c500ce4d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37404115442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db5b6574f4f6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e095beacc415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cd202a9b94b1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18C771-9A8C-4F69-8704-9D8FDBA302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7B4F40E-B8D7-4F6F-9BCC-34AB1666E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20992C-3DB0-4535-BA3F-02A0D4F5C9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C79203-F299-45CC-AD40-39AE534DF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C1064D-370F-43DF-BCEB-5B4BB8B350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BD7CDC-43E0-40BE-BD0F-8087F5CE43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3B7B3C-DED8-4620-B922-0E6B10AFFE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3D86B5-41D6-4B28-9709-1A680EC5D1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E04D7D-3970-4239-B736-D4E767C3B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AED384-CB40-4200-A8AB-56250AB611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543DD0-7FBC-4DD1-A9B7-ED6BA5164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C0644E-0F98-443B-A219-D784229DCC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DB60A1-1EFE-4390-AAA1-F3C76B4A5A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350E82-C9ED-4231-9B33-117520A9CC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C1D3ED-B2BA-423A-B1EB-C1AE34C384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85E150-B313-4A03-93AC-E27B31ACD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5F91804-85DA-45A3-9858-9DEF25D9E7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5B9927-0768-4889-9048-BE49EA3D416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A93508-B835-4D75-9B29-DF6D9D7876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21E140-421D-40B5-91DB-3FE0F0A895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581BBB-3CAF-4CB8-B56E-14456C06C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60110E-9CE6-4F4D-A030-3EF2AA1EA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5AA0F1-0B20-442B-80E6-F2B066D4E7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957DB74-E5E1-4C7F-898F-1A6C8D4B79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627C102-7CC6-469C-86EE-674D0263732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6211DCE-45BA-459E-800F-3D574FB761F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2276AC9-CDF3-4D8B-8A15-73295A92B7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5B272DB-863B-4080-97F1-529370527C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FD63E9B-1738-4A11-8385-F92C1C8058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C09AB9-BEBC-4F8E-B2E7-BDE3E02A3A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D4B2719-A6E4-4CFC-9E82-775BD614BB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093D09D-3965-405D-9B3E-3F285C27FC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A7C0D43-13A6-433B-AB55-9B009A5BE2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62457D3-3E4F-4167-9247-13D7C301A7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247BCD5-5226-4F50-9F7F-7945231309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087F98B-AEE5-47CC-824F-93EC4C9579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42A2CC-3C0D-4539-92E2-A122F6B83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71AD7F-865C-4A47-8B94-B7BC3E057B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3560AFB-F97D-4F63-9E30-74D5E3E572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833738A-7061-49FE-9C65-0FBF371BDF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5CCFB02-D378-4AFD-B584-E628F6318D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75305F3-C0DE-4B9C-A52B-4A5351AB3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54B49E-0072-495D-B554-72901F8C2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996B6A-D258-4DC6-B942-3657BAF60D9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AE4D02-2FC4-4955-8EBE-629712AC1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1246E5-0A91-48F2-9209-16D3165977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1D976C6-BAAA-44C1-B0A6-DDE8A0990E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6F4975-E5A2-49DB-9E79-5FFE57292C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407608-F43D-4B74-837B-90716AEE54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5909C6-B19E-4637-A0BB-E5FAB5D13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0CFD31-E8B7-422D-A0AD-42A008F4D7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978B18-583F-432C-83E7-A684905968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422345-E0AE-4B9E-93AF-680DB1EF93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23933AE-13D7-4C65-9EA1-3BA9827AF9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F9A24A-A3F9-4C74-A893-C53FC60908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CF912D-6EA7-492C-BAF4-0A53AE1D6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99A345-3CDE-4CD0-8F3F-E5CC8B7075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6CAA16-13AA-4689-816A-0112F604D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45c711496e4399" /><Relationship Type="http://schemas.openxmlformats.org/officeDocument/2006/relationships/slideLayout" Target="/ppt/slideLayouts/slideLayout1.xml" Id="R922976914aca4fcb" /><Relationship Type="http://schemas.openxmlformats.org/officeDocument/2006/relationships/slideLayout" Target="/ppt/slideLayouts/slideLayout2.xml" Id="Rda32fd89c1ae469e" /><Relationship Type="http://schemas.openxmlformats.org/officeDocument/2006/relationships/slideLayout" Target="/ppt/slideLayouts/slideLayout3.xml" Id="R8885d30526cf4b77" /><Relationship Type="http://schemas.openxmlformats.org/officeDocument/2006/relationships/slideLayout" Target="/ppt/slideLayouts/slideLayout4.xml" Id="R2bfb545480f54f47" /><Relationship Type="http://schemas.openxmlformats.org/officeDocument/2006/relationships/slideLayout" Target="/ppt/slideLayouts/slideLayout5.xml" Id="R5b6f91ab3d984acc" /><Relationship Type="http://schemas.openxmlformats.org/officeDocument/2006/relationships/slideLayout" Target="/ppt/slideLayouts/slideLayout6.xml" Id="R3835fafa42ae4ec5" /><Relationship Type="http://schemas.openxmlformats.org/officeDocument/2006/relationships/slideLayout" Target="/ppt/slideLayouts/slideLayout7.xml" Id="R9d6b8f88face4b1a" /><Relationship Type="http://schemas.openxmlformats.org/officeDocument/2006/relationships/slideLayout" Target="/ppt/slideLayouts/slideLayout8.xml" Id="Reeb168c2ef4e430d" /><Relationship Type="http://schemas.openxmlformats.org/officeDocument/2006/relationships/slideLayout" Target="/ppt/slideLayouts/slideLayout9.xml" Id="R4d9bc96d93e24516" /><Relationship Type="http://schemas.openxmlformats.org/officeDocument/2006/relationships/slideLayout" Target="/ppt/slideLayouts/slideLayout10.xml" Id="R08682c48d276405a" /><Relationship Type="http://schemas.openxmlformats.org/officeDocument/2006/relationships/slideLayout" Target="/ppt/slideLayouts/slideLayout11.xml" Id="R1f3aad171e9a4a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26A49C8-84BD-4388-BDB5-05A54DC55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DA8F89-BEAF-4F09-8BFB-653F6DB74D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F912B2-D2C1-4E2D-BC24-C1E6EA497EB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C41634-A578-499C-A0AE-757D6EDBE40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503147-3B43-4A56-A215-C97923FCF95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2976914aca4fcb"/>
    <p:sldLayoutId xmlns:r="http://schemas.openxmlformats.org/officeDocument/2006/relationships" id="2147483650" r:id="Rda32fd89c1ae469e"/>
    <p:sldLayoutId xmlns:r="http://schemas.openxmlformats.org/officeDocument/2006/relationships" id="2147483651" r:id="R8885d30526cf4b77"/>
    <p:sldLayoutId xmlns:r="http://schemas.openxmlformats.org/officeDocument/2006/relationships" id="2147483652" r:id="R2bfb545480f54f47"/>
    <p:sldLayoutId xmlns:r="http://schemas.openxmlformats.org/officeDocument/2006/relationships" id="2147483653" r:id="R5b6f91ab3d984acc"/>
    <p:sldLayoutId xmlns:r="http://schemas.openxmlformats.org/officeDocument/2006/relationships" id="2147483654" r:id="R3835fafa42ae4ec5"/>
    <p:sldLayoutId xmlns:r="http://schemas.openxmlformats.org/officeDocument/2006/relationships" id="2147483655" r:id="R9d6b8f88face4b1a"/>
    <p:sldLayoutId xmlns:r="http://schemas.openxmlformats.org/officeDocument/2006/relationships" id="2147483656" r:id="Reeb168c2ef4e430d"/>
    <p:sldLayoutId xmlns:r="http://schemas.openxmlformats.org/officeDocument/2006/relationships" id="2147483657" r:id="R4d9bc96d93e24516"/>
    <p:sldLayoutId xmlns:r="http://schemas.openxmlformats.org/officeDocument/2006/relationships" id="2147483658" r:id="R08682c48d276405a"/>
    <p:sldLayoutId xmlns:r="http://schemas.openxmlformats.org/officeDocument/2006/relationships" id="2147483659" r:id="R1f3aad171e9a4a3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40db3978914683" /><Relationship Type="http://schemas.openxmlformats.org/officeDocument/2006/relationships/image" Target="/ppt/media/image.png" Id="Rad590557839945d7" /><Relationship Type="http://schemas.openxmlformats.org/officeDocument/2006/relationships/image" Target="/ppt/media/image2.png" Id="Rf31ee9295abf401d" /><Relationship Type="http://schemas.openxmlformats.org/officeDocument/2006/relationships/image" Target="/ppt/media/image3.png" Id="R948e91334bca465c" /><Relationship Type="http://schemas.openxmlformats.org/officeDocument/2006/relationships/notesSlide" Target="/ppt/notesSlides/notesSlide1.xml" Id="R600f186f46184a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815c58eea04917" /><Relationship Type="http://schemas.openxmlformats.org/officeDocument/2006/relationships/notesSlide" Target="/ppt/notesSlides/notesSlide2.xml" Id="R773a5bcbde06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60b3ded3154344" /><Relationship Type="http://schemas.openxmlformats.org/officeDocument/2006/relationships/notesSlide" Target="/ppt/notesSlides/notesSlide3.xml" Id="R2a9994776bb44d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9873179e754434" /><Relationship Type="http://schemas.openxmlformats.org/officeDocument/2006/relationships/notesSlide" Target="/ppt/notesSlides/notesSlide4.xml" Id="R31cf0ca63bce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5ce1b104f2b427d" /><Relationship Type="http://schemas.openxmlformats.org/officeDocument/2006/relationships/notesSlide" Target="/ppt/notesSlides/notesSlide5.xml" Id="Rf621ee3332ce4f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ad676a43c44137" /><Relationship Type="http://schemas.openxmlformats.org/officeDocument/2006/relationships/notesSlide" Target="/ppt/notesSlides/notesSlide6.xml" Id="Rb0900ab2e1aa4d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6FD3CCC-B8D5-4115-A614-85F15077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3860684"/>
            <a:ext cx="1050505" cy="1263766"/>
          </a:xfrm>
          <a:custGeom xmlns:a="http://schemas.openxmlformats.org/drawingml/2006/main">
            <a:rect l="l" t="t" r="r" b="b"/>
            <a:pathLst>
              <a:path w="1050505" h="1263766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d590557839945d7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5D8585B-1E35-4A80-A630-29BFE9F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9128" y="3365384"/>
            <a:ext cx="811369" cy="1759066"/>
          </a:xfrm>
          <a:custGeom xmlns:a="http://schemas.openxmlformats.org/drawingml/2006/main">
            <a:rect l="l" t="t" r="r" b="b"/>
            <a:pathLst>
              <a:path w="811369" h="1759066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1ee9295abf401d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071C348-9399-4B35-A0D9-1E7DB9B6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88914" y="3860684"/>
            <a:ext cx="1117351" cy="1151414"/>
          </a:xfrm>
          <a:custGeom xmlns:a="http://schemas.openxmlformats.org/drawingml/2006/main">
            <a:rect l="l" t="t" r="r" b="b"/>
            <a:pathLst>
              <a:path w="1117351" h="1151414">
                <a:moveTo>
                  <a:pt x="0" y="0"/>
                </a:moveTo>
                <a:lnTo>
                  <a:pt x="1117351" y="0"/>
                </a:lnTo>
                <a:lnTo>
                  <a:pt x="1117351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8e91334bca465c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BEE4F52-3395-416D-8FFD-5D5BB5D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104900"/>
            <a:ext cx="11478716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4200" spc="-252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MEASUREMENT IN QUALITY ASSURANCE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5022DBD-2309-4B53-8999-8AEDDC93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67375"/>
            <a:ext cx="2746871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What is measured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02BA2F7-81B1-4BB0-836D-62724976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425565"/>
            <a:ext cx="4310172" cy="1120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Observable results such as task success, response time, failures, or user ratings.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27DAF62-2364-4E97-BF83-78883BE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5667375"/>
            <a:ext cx="2746871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Why it matters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EEE7AF7-93B1-42D8-94A2-CBE529DC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6425565"/>
            <a:ext cx="4310172" cy="11201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A baseline and clear target show where a system falls short and whether a fix worked.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16C569E-0569-4EB6-A621-9D26C0E7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5667375"/>
            <a:ext cx="2746871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GlassFit example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A0BA8E-6FB0-4AAC-897C-1F5E7EEB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6425565"/>
            <a:ext cx="3995466" cy="1493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Check if users can upload a room photo, adjust a product overlay, and save a consultation reference.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C93725D-88C8-42FE-A53A-9227DE5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8616" y="8984615"/>
            <a:ext cx="4560684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239"/>
              </a:lnSpc>
              <a:buNone/>
            </a:pPr>
            <a:r>
              <a:rPr sz="159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1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E4551A9-5934-4381-ACBC-E48980EB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862338"/>
            <a:ext cx="1379967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00"/>
              </a:lnSpc>
              <a:buNone/>
            </a:pPr>
            <a:r>
              <a:rPr sz="3300" spc="-198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Measurement turns quality goals into evidence. It checks whether software meets stated requirements and user needs using consistent methods. [1]</a:t>
            </a:r>
          </a:p>
        </p:txBody>
      </p:sp>
    </p:spTree>
    <p:extLst>
      <p:ext uri="{BB962C8B-B14F-4D97-AF65-F5344CB8AC3E}">
        <p14:creationId xmlns:p14="http://schemas.microsoft.com/office/powerpoint/2010/main" val="186361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13C1DD2A-8C39-42FC-85C3-0D17491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714642"/>
            <a:ext cx="11478716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4200" spc="-252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QUALITY METRICS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80A0B01-8F2A-415A-BFAF-E55DA95F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67375"/>
            <a:ext cx="2746871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Product quality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0D27CC7-687C-4F2F-AEE3-9D8B4DF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425565"/>
            <a:ext cx="4310172" cy="33604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Functional suitability, performance efficiency, compatibility, interaction capability, reliability, security, maintainability, flexibility, and safety help assess software from different angles. ISO/IEC 25010:2023 defines nine product quality characteristics. [1]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036F76A-E3DB-4ABA-824C-0BC314E3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5667375"/>
            <a:ext cx="3671318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Operational measures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0563386-7694-49A1-8DCB-0C71040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6425565"/>
            <a:ext cx="4310172" cy="2613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Response time, error rate, availability, recovery time, and mobile frame rate show how the running system behaves. Example: measure the 95th-percentile image-analysis response time.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FBDC1A3-1E4D-4ECB-A091-BA8CEC99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5667375"/>
            <a:ext cx="3995466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Process measures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6959D57-94A1-4FC1-B451-63152A5A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6425565"/>
            <a:ext cx="3995466" cy="2987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Test pass rate, escaped defects, change lead time, deployment frequency, and change failure rate help evaluate testing and software delivery. Delivery measures describe team flow, not the whole product. [2, 3]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4E244AC-6B52-43E3-A146-D3B0866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8616" y="8984615"/>
            <a:ext cx="4560684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239"/>
              </a:lnSpc>
              <a:buNone/>
            </a:pPr>
            <a:r>
              <a:rPr sz="159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2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F8CF85B-27EE-4CF0-8AD7-2F667B82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36911"/>
            <a:ext cx="2746871" cy="1377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1CE0FBB-D65A-4DB5-9C79-ECFA2762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3836911"/>
            <a:ext cx="2746871" cy="1377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02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736EF3D-6922-4ACC-841B-F1E01152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3836911"/>
            <a:ext cx="2746871" cy="1377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4599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6E89F05-2D3F-402F-A177-C8AEB56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714642"/>
            <a:ext cx="11478716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4200" spc="-252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USING DATA FOR QUALITY IMPROVEMENT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277C801-84EC-41CC-B37D-D6CD0F9A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667375"/>
            <a:ext cx="2746871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Collect evidence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E4CC4AC-1B70-4DC4-8D37-543FE71C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425565"/>
            <a:ext cx="4310172" cy="2240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Gather test outcomes, performance logs, defect reports, task observations, and survey responses. Use the same definitions and test conditions each time.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E04E8E0E-94D7-4677-942F-1740A194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5667375"/>
            <a:ext cx="3671318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Find patterns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0F995EB-7FC7-49A0-999A-C256CA5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6425565"/>
            <a:ext cx="4310172" cy="2240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Compare results with a baseline and examine failures by feature, device, browser, or test run. Repeated patterns can point to where a cause needs investigation.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1AEB600-9DDE-4777-BBA9-F0433BA7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5667375"/>
            <a:ext cx="3995466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Choose and check a fix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DABB41B-2132-4695-B1A8-E6F4524F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6425565"/>
            <a:ext cx="3995466" cy="2240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If mobile overlay edits fail, review sessions and comments, fix the controls, then rerun the same tests. Improved results support the change. [2, 3]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4871436-2635-44C3-AFF9-9FEA7B8D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8616" y="8984615"/>
            <a:ext cx="4560684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239"/>
              </a:lnSpc>
              <a:buNone/>
            </a:pPr>
            <a:r>
              <a:rPr sz="159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3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350AE8-BA60-4614-912B-8B746165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36911"/>
            <a:ext cx="2746871" cy="1377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04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9E3163B-3358-454B-97F4-0D9F7A2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14" y="3836911"/>
            <a:ext cx="2746871" cy="1377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05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AB0879-AA7A-497A-BA99-F498AB93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9128" y="3836911"/>
            <a:ext cx="2746871" cy="1377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4685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F9B25FB-2160-41FB-9949-719E0576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714642"/>
            <a:ext cx="11478716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4200" spc="-252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QUANTITATIVE VS QUALITATIVE DATA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4A7438D-CFED-452E-9EBB-92B1FE5B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886" y="5816797"/>
            <a:ext cx="5539883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Quantitative data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6AFDAF5-78D6-414A-B3C3-94A2716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886" y="6574987"/>
            <a:ext cx="5539883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Numbers such as task success rate, response time, defect count, or a five-point survey score. They show how many, how often, and how long, and let teams compare test runs.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CB59566C-8B37-4E0D-9219-602E2B6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4388" y="5667375"/>
            <a:ext cx="3671318" cy="4265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spcBef>
                <a:spcPct val="0"/>
              </a:spcBef>
              <a:buNone/>
            </a:pPr>
            <a:r>
              <a:rPr sz="2400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Qualitative data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D461750-C9A3-4BFD-B211-856D6A9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4388" y="6425565"/>
            <a:ext cx="4310172" cy="2240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algn="l">
              <a:lnSpc>
                <a:spcPts val="2940"/>
              </a:lnSpc>
              <a:spcBef>
                <a:spcPct val="0"/>
              </a:spcBef>
              <a:buNone/>
              <a:defRPr sz="21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21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Comments, interview answers, or observed difficulties explain why a metric may be low. Example: users finish a GlassFit task but say overlay rotation is hard to find. Use both types together.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5FAB78F-98FD-41C7-BD9B-FDED13B1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8616" y="8984615"/>
            <a:ext cx="4560684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239"/>
              </a:lnSpc>
              <a:buNone/>
            </a:pPr>
            <a:r>
              <a:rPr sz="159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4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6B8E73A-F0C0-4BA5-97E3-BA19141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886" y="3986333"/>
            <a:ext cx="2746871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5059BEF-3D04-4C55-AFA2-20FE716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4388" y="3836911"/>
            <a:ext cx="2746871" cy="142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200"/>
              </a:lnSpc>
              <a:spcBef>
                <a:spcPct val="0"/>
              </a:spcBef>
              <a:buNone/>
            </a:pPr>
            <a:r>
              <a:rPr sz="80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5919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55F5FB5-309F-4248-8782-30E4D7CE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714642"/>
            <a:ext cx="11478716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00"/>
              </a:lnSpc>
              <a:buNone/>
            </a:pPr>
            <a:r>
              <a:rPr sz="4200" spc="-252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QUALITY METRICS FOR GLASSFIT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BB5D8906-8495-4DA6-AAD3-1F7F055B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990748"/>
            <a:ext cx="1656961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30"/>
              </a:lnSpc>
              <a:spcBef>
                <a:spcPct val="0"/>
              </a:spcBef>
              <a:buNone/>
            </a:pPr>
            <a:r>
              <a:rPr sz="2593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Pass rate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CBF3360-02F7-4967-94DE-54C18EE6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592088"/>
            <a:ext cx="2599972" cy="12938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47"/>
              </a:lnSpc>
              <a:spcBef>
                <a:spcPct val="0"/>
              </a:spcBef>
              <a:buNone/>
            </a:pPr>
            <a:r>
              <a:rPr sz="181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Completed critical tasks ÷ attempts × 100. Test upload, overlay, and reference export.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7AE1679-9AE1-456D-B8D6-07E1C4E5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4007" y="4990748"/>
            <a:ext cx="2214604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30"/>
              </a:lnSpc>
              <a:spcBef>
                <a:spcPct val="0"/>
              </a:spcBef>
              <a:buNone/>
            </a:pPr>
            <a:r>
              <a:rPr sz="2593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Image speed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D0158B0-48DF-4CF3-8918-A04DE15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4007" y="5592088"/>
            <a:ext cx="2599972" cy="12938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algn="l">
              <a:lnSpc>
                <a:spcPts val="2547"/>
              </a:lnSpc>
              <a:spcBef>
                <a:spcPct val="0"/>
              </a:spcBef>
              <a:buNone/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p95 analysis time. Target: under 2,500 ms for 8 MP photos at 20 concurrent requests. [5]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BAF1D83-E212-49A4-B8D9-F05B264B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4109" y="4990748"/>
            <a:ext cx="2411743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30"/>
              </a:lnSpc>
              <a:spcBef>
                <a:spcPct val="0"/>
              </a:spcBef>
              <a:buNone/>
            </a:pPr>
            <a:r>
              <a:rPr sz="2593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User rating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9D6050B-8CE2-4456-8F38-101DB84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4109" y="5592088"/>
            <a:ext cx="2411743" cy="970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algn="l">
              <a:lnSpc>
                <a:spcPts val="2547"/>
              </a:lnSpc>
              <a:spcBef>
                <a:spcPct val="0"/>
              </a:spcBef>
              <a:buNone/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Mean 1–5 rating for ease and visual clarity; include comments. [4]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C9D5C64-A108-44DA-972D-14D42391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8616" y="8984615"/>
            <a:ext cx="4560684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239"/>
              </a:lnSpc>
              <a:buNone/>
            </a:pPr>
            <a:r>
              <a:rPr sz="159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5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E410D-C3CB-427C-B334-CDB8DC0D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927630"/>
            <a:ext cx="1656961" cy="1004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82"/>
              </a:lnSpc>
              <a:spcBef>
                <a:spcPct val="0"/>
              </a:spcBef>
              <a:buNone/>
            </a:pPr>
            <a:r>
              <a:rPr sz="5844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9F0D69-C94A-4913-B58C-4637069C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4007" y="3927630"/>
            <a:ext cx="1656961" cy="1004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82"/>
              </a:lnSpc>
              <a:spcBef>
                <a:spcPct val="0"/>
              </a:spcBef>
              <a:buNone/>
            </a:pPr>
            <a:r>
              <a:rPr sz="5844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02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09CD309-EBEE-4A17-9B47-3D9621E4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4109" y="3927630"/>
            <a:ext cx="1658066" cy="1004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82"/>
              </a:lnSpc>
              <a:spcBef>
                <a:spcPct val="0"/>
              </a:spcBef>
              <a:buNone/>
            </a:pPr>
            <a:r>
              <a:rPr sz="5844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03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07FCE6-582B-46B7-87EC-4B715008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852" y="4990748"/>
            <a:ext cx="2216081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30"/>
              </a:lnSpc>
              <a:spcBef>
                <a:spcPct val="0"/>
              </a:spcBef>
              <a:buNone/>
            </a:pPr>
            <a:r>
              <a:rPr sz="2593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Test sources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23719E-2D52-401B-8D31-56866EE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852" y="5678278"/>
            <a:ext cx="2601706" cy="970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algn="l">
              <a:lnSpc>
                <a:spcPts val="2547"/>
              </a:lnSpc>
              <a:spcBef>
                <a:spcPct val="0"/>
              </a:spcBef>
              <a:buNone/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Playwright task tests, k6 timing results, and the planned user survey.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AE30BFB-998E-4893-A83D-1FE74016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7557" y="4990748"/>
            <a:ext cx="2411743" cy="461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30"/>
              </a:lnSpc>
              <a:spcBef>
                <a:spcPct val="0"/>
              </a:spcBef>
              <a:buNone/>
            </a:pPr>
            <a:r>
              <a:rPr sz="2593">
                <a:solidFill>
                  <a:srgbClr val="8C7753"/>
                </a:solidFill>
                <a:latin typeface="Open Sauce"/>
                <a:ea typeface="Open Sauce"/>
                <a:cs typeface="Open Sauce"/>
              </a:rPr>
              <a:t>Improve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63F380C-2437-450F-B4A4-F6210B25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7557" y="5678278"/>
            <a:ext cx="2411743" cy="12938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algn="l">
              <a:lnSpc>
                <a:spcPts val="2547"/>
              </a:lnSpc>
              <a:spcBef>
                <a:spcPct val="0"/>
              </a:spcBef>
              <a:buNone/>
              <a:defRPr sz="1500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500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Review failures and comments, fix high-impact issues, then retest.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080F78A-590C-4851-B08F-A28063BC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9852" y="3927630"/>
            <a:ext cx="1658066" cy="1039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82"/>
              </a:lnSpc>
              <a:spcBef>
                <a:spcPct val="0"/>
              </a:spcBef>
              <a:buNone/>
            </a:pPr>
            <a:r>
              <a:rPr sz="5844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04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FA46A20-91FF-444A-A7AF-54C4ACF7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7557" y="3927630"/>
            <a:ext cx="1658066" cy="1039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182"/>
              </a:lnSpc>
              <a:spcBef>
                <a:spcPct val="0"/>
              </a:spcBef>
              <a:buNone/>
            </a:pPr>
            <a:r>
              <a:rPr sz="5844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</a:rPr>
              <a:t>05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4C9605E-76A2-47FF-A699-D4CBED0D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452394"/>
            <a:ext cx="1557608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00"/>
              </a:lnSpc>
              <a:buNone/>
            </a:pPr>
            <a:r>
              <a:rPr sz="2100" spc="-126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Three practical measures connect system behavior with the experience of customers and business users.</a:t>
            </a:r>
          </a:p>
        </p:txBody>
      </p:sp>
    </p:spTree>
    <p:extLst>
      <p:ext uri="{BB962C8B-B14F-4D97-AF65-F5344CB8AC3E}">
        <p14:creationId xmlns:p14="http://schemas.microsoft.com/office/powerpoint/2010/main" val="1815599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AB1E7044-0B6F-448B-8A01-9AE98440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8616" y="8984615"/>
            <a:ext cx="4560684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239"/>
              </a:lnSpc>
              <a:buNone/>
            </a:pPr>
            <a:r>
              <a:rPr sz="1599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FD1E131-A4E1-46D1-BAA5-8473E1CC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121347"/>
            <a:ext cx="16230600" cy="975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marL="0" lvl="0" indent="0" algn="l">
              <a:lnSpc>
                <a:spcPts val="3840"/>
              </a:lnSpc>
              <a:spcBef>
                <a:spcPct val="0"/>
              </a:spcBef>
              <a:buNone/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1. ISO. (2023). ISO/IEC 25010:2023, Product quality model. https://www.iso.org/standard/78176.html</a:t>
            </a:r>
          </a:p>
          <a:p xmlns:a="http://schemas.openxmlformats.org/drawingml/2006/main">
            <a:pPr marL="0" lvl="0" indent="0" algn="l">
              <a:lnSpc>
                <a:spcPts val="3840"/>
              </a:lnSpc>
              <a:spcBef>
                <a:spcPct val="0"/>
              </a:spcBef>
              <a:buNone/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2. DORA. (2026). DORA’s software delivery performance metrics. https://dora.dev/guides/dora-metrics/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D419C86-620C-42EF-86F7-D1BD8505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989777"/>
            <a:ext cx="3810121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REFERENCES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5BFB63E-B988-423A-B3F8-7788D36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589335"/>
            <a:ext cx="16230600" cy="1463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marL="0" lvl="0" indent="0" algn="l">
              <a:lnSpc>
                <a:spcPts val="3840"/>
              </a:lnSpc>
              <a:spcBef>
                <a:spcPct val="0"/>
              </a:spcBef>
              <a:buNone/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3. NIST. (1993). Software error analysis (NIST SP 500-209). https://nvlpubs.nist.gov/nistpubs/Legacy/SP/nistspecialpublication500-209.pdf</a:t>
            </a:r>
          </a:p>
          <a:p xmlns:a="http://schemas.openxmlformats.org/drawingml/2006/main">
            <a:pPr marL="0" lvl="0" indent="0" algn="l">
              <a:lnSpc>
                <a:spcPts val="3840"/>
              </a:lnSpc>
              <a:spcBef>
                <a:spcPct val="0"/>
              </a:spcBef>
              <a:buNone/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4. Dasco, G. C. A., Pelagio, G. N. D., Rabanal, R. J. B., &amp; Sagun, J. N. I. (2026). GLASSFIT: A web-based visualization system for customized glass and aluminum client-space fitting using photo-based simulation [Unpublished undergraduate capstone project]. Polytechnic University of the Philippines.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BABDFE6-6B51-4921-AEB3-6BA632F8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543865"/>
            <a:ext cx="16230600" cy="487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def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defPPr>
            <a:lvl1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1pPr>
            <a:lvl2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2pPr>
            <a:lvl3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3pPr>
            <a:lvl4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4pPr>
            <a:lvl5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5pPr>
            <a:lvl6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6pPr>
            <a:lvl7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7pPr>
            <a:lvl8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8pPr>
            <a:lvl9pPr algn="l"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lvl9pPr>
          </a:lstStyle>
          <a:p xmlns:a="http://schemas.openxmlformats.org/drawingml/2006/main">
            <a:pPr marL="0" lvl="0" indent="0" algn="l">
              <a:lnSpc>
                <a:spcPts val="3840"/>
              </a:lnSpc>
              <a:spcBef>
                <a:spcPct val="0"/>
              </a:spcBef>
              <a:buNone/>
              <a:defRPr sz="1725">
                <a:solidFill>
                  <a:srgbClr val="331B0D"/>
                </a:solidFill>
                <a:latin typeface="Open Sauce"/>
                <a:ea typeface="Open Sauce"/>
                <a:cs typeface="Open Sauce"/>
              </a:defRPr>
            </a:pPr>
            <a:r>
              <a:rPr sz="1725">
                <a:solidFill>
                  <a:srgbClr val="331B0D"/>
                </a:solidFill>
                <a:latin typeface="Open Sauce"/>
                <a:ea typeface="Open Sauce"/>
                <a:cs typeface="Open Sauce"/>
              </a:rPr>
              <a:t>5. GlassFit Capstone Team. (2026). Quality Assurance Document (QAD), Version 1.3. GlassFit project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98269628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2026-10-17T14:56:58.4580000Z</dcterms:created>
  <dcterms:modified xsi:type="dcterms:W3CDTF">2026-10-17T14:56:58.4580000Z</dcterms:modified>
</coreProperties>
</file>