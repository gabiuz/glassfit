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50184861a84385" /><Relationship Type="http://schemas.openxmlformats.org/officeDocument/2006/relationships/extended-properties" Target="/docProps/app.xml" Id="Rb9b0dba2dd984e34" /><Relationship Type="http://schemas.openxmlformats.org/officeDocument/2006/relationships/officeDocument" Target="/ppt/presentation.xml" Id="Rbe648010429c4f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52adb264fd4225"/>
  </p:sldMasterIdLst>
  <p:notesMasterIdLst>
    <p:notesMasterId xmlns:r="http://schemas.openxmlformats.org/officeDocument/2006/relationships" r:id="Reed874949a3949bd"/>
  </p:notesMasterIdLst>
  <p:sldIdLst>
    <p:sldId xmlns:r="http://schemas.openxmlformats.org/officeDocument/2006/relationships" id="256" r:id="R0153056b17384ff9"/>
    <p:sldId xmlns:r="http://schemas.openxmlformats.org/officeDocument/2006/relationships" id="257" r:id="Recb6ed81855e42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2c7f53842a49ff" /><Relationship Type="http://schemas.openxmlformats.org/officeDocument/2006/relationships/slideMaster" Target="/ppt/slideMasters/slideMaster1.xml" Id="R1852adb264fd4225" /><Relationship Type="http://schemas.openxmlformats.org/officeDocument/2006/relationships/notesMaster" Target="/ppt/notesMasters/notesMaster1.xml" Id="Reed874949a3949bd" /><Relationship Type="http://schemas.openxmlformats.org/officeDocument/2006/relationships/presProps" Target="/ppt/presProps.xml" Id="R5d92b72ab2534616" /><Relationship Type="http://schemas.openxmlformats.org/officeDocument/2006/relationships/tableStyles" Target="/ppt/tableStyles.xml" Id="R4030dc9b9e424d0f" /><Relationship Type="http://schemas.openxmlformats.org/officeDocument/2006/relationships/slide" Target="/ppt/slides/slide1.xml" Id="R0153056b17384ff9" /><Relationship Type="http://schemas.openxmlformats.org/officeDocument/2006/relationships/slide" Target="/ppt/slides/slide2.xml" Id="Recb6ed81855e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2d44bd38f43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d9167f40454b02" /><Relationship Type="http://schemas.openxmlformats.org/officeDocument/2006/relationships/notesMaster" Target="/ppt/notesMasters/notesMaster1.xml" Id="Rd91fade1302b46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2e0157967e479e" /><Relationship Type="http://schemas.openxmlformats.org/officeDocument/2006/relationships/notesMaster" Target="/ppt/notesMasters/notesMaster1.xml" Id="R87241fc5656d43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The frequencies are the supplied Total column. Total issues = 64. Percent = frequency / 64 × 100; cumulative percent is computed from the ranked counts before display rounding.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Categories are sorted highest to lowest. Top three sum to 52 / 64 = 81.25%, displayed as 81.3%. Prioritization follows the requested Pareto rule: address the smallest ranked set that accounts for at least 80% of issues.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57367a79c49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df3e4705547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3348bd1dc44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056e94c6247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4c9c9794949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8facf5ebf4b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DE86B4-F862-4B89-8C2A-A2746D5490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98777C-9E87-408C-B2C4-097F5E0EB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CD0D08-E03E-4A40-AA08-751D40CC6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9FA02-CB10-4578-8875-F45AFE7FC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22FFC4-C8A2-49FB-B713-DAC147BDE2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B1FDE3-C37C-47FA-B4B5-203EE8E6DE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2CEA30-75B1-4A87-83EC-2430CF67B0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61028B-7536-4E30-A295-97832BB82A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A6F0E1-460E-4C38-9C2C-D4627EE89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C0EC54-9080-450A-8187-FAE34B5975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d505c5f1414048" /><Relationship Type="http://schemas.openxmlformats.org/officeDocument/2006/relationships/slideLayout" Target="/ppt/slideLayouts/slideLayout1.xml" Id="R0ebe693f86584a14" /><Relationship Type="http://schemas.openxmlformats.org/officeDocument/2006/relationships/slideLayout" Target="/ppt/slideLayouts/slideLayout2.xml" Id="R8a51a097cfa34721" /><Relationship Type="http://schemas.openxmlformats.org/officeDocument/2006/relationships/slideLayout" Target="/ppt/slideLayouts/slideLayout3.xml" Id="Rf5692e80530d43c4" /><Relationship Type="http://schemas.openxmlformats.org/officeDocument/2006/relationships/slideLayout" Target="/ppt/slideLayouts/slideLayout4.xml" Id="Rb8d0ae5ab7734b0c" /><Relationship Type="http://schemas.openxmlformats.org/officeDocument/2006/relationships/slideLayout" Target="/ppt/slideLayouts/slideLayout5.xml" Id="R700c4ab659f6415a" /><Relationship Type="http://schemas.openxmlformats.org/officeDocument/2006/relationships/slideLayout" Target="/ppt/slideLayouts/slideLayout6.xml" Id="Rbfbcaa3f0732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be693f86584a14"/>
    <p:sldLayoutId xmlns:r="http://schemas.openxmlformats.org/officeDocument/2006/relationships" id="2147483650" r:id="R8a51a097cfa34721"/>
    <p:sldLayoutId xmlns:r="http://schemas.openxmlformats.org/officeDocument/2006/relationships" id="2147483651" r:id="Rf5692e80530d43c4"/>
    <p:sldLayoutId xmlns:r="http://schemas.openxmlformats.org/officeDocument/2006/relationships" id="2147483652" r:id="Rb8d0ae5ab7734b0c"/>
    <p:sldLayoutId xmlns:r="http://schemas.openxmlformats.org/officeDocument/2006/relationships" id="2147483653" r:id="R700c4ab659f6415a"/>
    <p:sldLayoutId xmlns:r="http://schemas.openxmlformats.org/officeDocument/2006/relationships" id="2147483654" r:id="Rbfbcaa3f0732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89db91bb040ad" /><Relationship Type="http://schemas.openxmlformats.org/officeDocument/2006/relationships/notesSlide" Target="/ppt/notesSlides/notesSlide1.xml" Id="R4c6f9697803649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9290db700458d" /><Relationship Type="http://schemas.openxmlformats.org/officeDocument/2006/relationships/chart" Target="/ppt/slides/charts/chart1.xml" Id="R388d2488676e4b61" /><Relationship Type="http://schemas.openxmlformats.org/officeDocument/2006/relationships/notesSlide" Target="/ppt/notesSlides/notesSlide2.xml" Id="R8d007a63d95b4b0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Defect frequency</c:v>
          </c:tx>
          <c:spPr>
            <a:solidFill xmlns:a="http://schemas.openxmlformats.org/drawingml/2006/main">
              <a:srgbClr val="147D78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UI Defects</c:v>
                </c:pt>
                <c:pt idx="1">
                  <c:v>Mobile Responsiveness</c:v>
                </c:pt>
                <c:pt idx="2">
                  <c:v>Calculation Logic</c:v>
                </c:pt>
                <c:pt idx="3">
                  <c:v>Broken link</c:v>
                </c:pt>
                <c:pt idx="4">
                  <c:v>Broken button</c:v>
                </c:pt>
                <c:pt idx="5">
                  <c:v>Database error</c:v>
                </c:pt>
                <c:pt idx="6">
                  <c:v>Input validation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36</c:v>
                </c:pt>
                <c:pt idx="1">
                  <c:v>9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832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3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47FD1-B543-44E5-822A-7A24F0F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133B1-E660-446F-8A10-25E4F2B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Analysis | Defect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0321-B665-46EC-B95F-8F26EC8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6D8A6-33E6-4D75-84BA-08DAC57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A4743-2E94-42E1-A697-7B222EE9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7075"/>
                </a:solidFill>
              </a:defRPr>
            </a:pPr>
            <a:r>
              <a:rPr sz="1425" b="0">
                <a:solidFill>
                  <a:srgbClr val="5B7075"/>
                </a:solidFill>
              </a:rPr>
              <a:t>Testing check sheet totals by defect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BCBCA-E76A-4B67-96F0-FCE141B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562100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47D78"/>
                </a:solidFill>
              </a:defRPr>
            </a:pPr>
            <a:r>
              <a:rPr sz="1125" b="1">
                <a:solidFill>
                  <a:srgbClr val="147D78"/>
                </a:solidFill>
              </a:rPr>
              <a:t>64 TOTAL ISSUES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226F6-2B3F-42EF-BBDE-DA5D20E41A07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53000"/>
                <a:gridCol w="1714500"/>
                <a:gridCol w="2000250"/>
                <a:gridCol w="2305050"/>
              </a:tblGrid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Defect 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% of total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Cumulative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UI Defects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Mobile Responsiveness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14.1%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70.3%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Calculation 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81.3%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link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89.1%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button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4.7%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93.8%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Database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96.9%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Input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4D4B9-FFE3-472B-84CA-1C0EA46D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Share = defect frequency / 64 × 100. Values are rounded to one decimal 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CF44D-EA6B-422B-98BE-8BEA5CE6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1286101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B78249-5579-4D5A-9749-0C97BFDD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E0E34-EB8A-4AAF-9D12-B06CE5EC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Chart | Priority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84D96-A37F-4634-95E9-A29F0304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E0F9B-C82E-420B-894E-3F77E818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CBCBF-9243-4DD3-AEB3-BB125D6C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75"/>
                </a:solidFill>
              </a:defRPr>
            </a:pPr>
            <a:r>
              <a:rPr sz="1350" b="0">
                <a:solidFill>
                  <a:srgbClr val="5B7075"/>
                </a:solidFill>
              </a:rPr>
              <a:t>Bars show issue frequency; the line shows cumulative share.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B0A7FDC-F818-4CE9-B205-C9EDAE23AEF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8d2488676e4b6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DED2D-8731-4A3F-AE37-78815662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7990"/>
            <a:ext cx="651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6A53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D86FD-B2AF-46D5-9C21-780F86C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02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E509A-74D2-4625-954F-C26C81BF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01616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56.3%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4F243-BDE4-4BA2-AD54-B328B2B2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200" y="3261420"/>
            <a:ext cx="1085850" cy="425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DB981-B986-4761-9379-A1EC9967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42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0905E-BACD-4994-A7B2-9514093D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7567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70.3%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70DEC-5011-4330-BB2C-A9BEEBF6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5050" y="2930128"/>
            <a:ext cx="1085850" cy="33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B74B2-3698-49DD-836F-27C0203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29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518FF-38A7-4912-BE9B-5E47AEB7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44378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81.3%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E0B43-917C-48C7-8AC1-74C00344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90900" y="2693491"/>
            <a:ext cx="1085850" cy="236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FD547-6BD0-466E-A1EE-095D7F74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634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BE3D9-25E5-4B39-86BF-675C48CD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07741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89.1%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8F3A7-66D4-4C0A-9445-5201F10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76750" y="2551509"/>
            <a:ext cx="1085850" cy="141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4ED3E-33E1-4CBF-9E61-4622BEB2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435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5CC35-2F7F-4EFA-90D8-033CA06A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65759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93.8%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CC375-B14C-46D4-94E3-796436D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62600" y="2456855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BA76F-101E-4B5B-89A1-D8B81F35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97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306C4-3CB2-4FA4-B412-D291FA1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7110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96.9%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DC6B1-4E1E-4792-A0B8-AF321A7C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48450" y="2362200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30EB5-20C3-42D3-BF6A-ACB71D7F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6ABC27-E8EB-4E50-9CAE-A96C5362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D66A53"/>
                </a:solidFill>
              </a:defRPr>
            </a:pPr>
            <a:r>
              <a:rPr sz="750" b="1">
                <a:solidFill>
                  <a:srgbClr val="D66A53"/>
                </a:solidFill>
              </a:rPr>
              <a:t>100.0%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2D9FD-0CB6-4AB4-A1D7-A15A8A7B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B063DC-AE93-4408-B285-C3BF2C26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66A53"/>
                </a:solidFill>
              </a:defRPr>
            </a:pPr>
            <a:r>
              <a:rPr sz="1500" b="1">
                <a:solidFill>
                  <a:srgbClr val="D66A53"/>
                </a:solidFill>
              </a:rPr>
              <a:t>80% 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B1FAE-277B-4B38-B1E7-1D28BE06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3A"/>
                </a:solidFill>
              </a:defRPr>
            </a:pPr>
            <a:r>
              <a:rPr sz="1650" b="1">
                <a:solidFill>
                  <a:srgbClr val="18323A"/>
                </a:solidFill>
              </a:rPr>
              <a:t>The first 3 categories reach 81.3% of all recorded issues.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AA4B57-618E-40D1-96A4-748F04AC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0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Teal bars: issue count</a:t>
            </a:r>
          </a:p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Coral line: cumulative 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9F68C-4F38-489E-8A68-5FF105C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Prioritize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5C4864-3546-4CAD-8016-44DD153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815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1. UI defects  |  36 issues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2. Mobile responsiveness  |  9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3. Calculation logic  | 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1A2C6F-6562-49B3-87B1-07CD375D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3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B7075"/>
                </a:solidFill>
              </a:defRPr>
            </a:pPr>
            <a:r>
              <a:rPr sz="1200" b="1">
                <a:solidFill>
                  <a:srgbClr val="5B7075"/>
                </a:solidFill>
              </a:rPr>
              <a:t>Together: 52 of 64 issues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8C70AB-A825-4F6B-938A-D1A1AFA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1935163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2026-10-12T12:10:28.4740000Z</dcterms:created>
  <dcterms:modified xsi:type="dcterms:W3CDTF">2026-10-12T12:10:28.4740000Z</dcterms:modified>
</coreProperties>
</file>